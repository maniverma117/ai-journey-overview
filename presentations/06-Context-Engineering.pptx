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97280" cy="109728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0F172A"/>
                </a:solidFill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1097280"/>
            <a:ext cx="8686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Context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926080"/>
            <a:ext cx="8686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CCCCCC"/>
                </a:solidFill>
              </a:defRPr>
            </a:pPr>
            <a:r>
              <a:t>What Goes Into the Model's Brain</a:t>
            </a:r>
            <a:br/>
            <a:r>
              <a:t>The art of assembling the perfect input from many sources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217920"/>
            <a:ext cx="3657600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999999"/>
                </a:solidFill>
              </a:defRPr>
            </a:pPr>
            <a:r>
              <a:t>THE COMPLETE JOURNEY OF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27432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The Context Window is a BUDGET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Context Window: 128,000 tokens (fixed limit)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You must fit ALL of this inside: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System instructions:      500 tokens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User profile/context:     200 tokens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Conversation history:     5,000 tokens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Retrieved documents:      10,000 tokens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Tool results:             3,000 tokens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Current query:            100 tokens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OUTPUT RESERVE:           4,000 tokens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Every irrelevant token = a relevant token you can't include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Selection and compression are critical skills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Components of Context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3474720" cy="16459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600" b="1">
                <a:solidFill>
                  <a:srgbClr val="00D4FF"/>
                </a:solidFill>
              </a:defRPr>
            </a:pPr>
            <a:r>
              <a:t>System</a:t>
            </a:r>
            <a:br/>
            <a:r>
              <a:t>Instructions</a:t>
            </a:r>
          </a:p>
          <a:p>
            <a:pPr algn="ctr">
              <a:defRPr sz="1200">
                <a:solidFill>
                  <a:srgbClr val="CCCCCC"/>
                </a:solidFill>
              </a:defRPr>
            </a:pPr>
            <a:r>
              <a:t>Role, rules, format</a:t>
            </a:r>
            <a:br/>
            <a:r>
              <a:t>Stable, versioned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1280160"/>
            <a:ext cx="3474720" cy="16459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600" b="1">
                <a:solidFill>
                  <a:srgbClr val="00E676"/>
                </a:solidFill>
              </a:defRPr>
            </a:pPr>
            <a:r>
              <a:t>User</a:t>
            </a:r>
            <a:br/>
            <a:r>
              <a:t>Context</a:t>
            </a:r>
          </a:p>
          <a:p>
            <a:pPr algn="ctr">
              <a:defRPr sz="1200">
                <a:solidFill>
                  <a:srgbClr val="CCCCCC"/>
                </a:solidFill>
              </a:defRPr>
            </a:pPr>
            <a:r>
              <a:t>Identity, permissions</a:t>
            </a:r>
            <a:br/>
            <a:r>
              <a:t>preferences, scope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0" y="1280160"/>
            <a:ext cx="3474720" cy="16459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600" b="1">
                <a:solidFill>
                  <a:srgbClr val="FF8C00"/>
                </a:solidFill>
              </a:defRPr>
            </a:pPr>
            <a:r>
              <a:t>Conversation</a:t>
            </a:r>
            <a:br/>
            <a:r>
              <a:t>History</a:t>
            </a:r>
          </a:p>
          <a:p>
            <a:pPr algn="ctr">
              <a:defRPr sz="1200">
                <a:solidFill>
                  <a:srgbClr val="CCCCCC"/>
                </a:solidFill>
              </a:defRPr>
            </a:pPr>
            <a:r>
              <a:t>Past messages</a:t>
            </a:r>
            <a:br/>
            <a:r>
              <a:t>(compressed/windowed)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91840"/>
            <a:ext cx="3474720" cy="16459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600" b="1">
                <a:solidFill>
                  <a:srgbClr val="A855F7"/>
                </a:solidFill>
              </a:defRPr>
            </a:pPr>
            <a:r>
              <a:t>Retrieved</a:t>
            </a:r>
            <a:br/>
            <a:r>
              <a:t>Knowledge</a:t>
            </a:r>
          </a:p>
          <a:p>
            <a:pPr algn="ctr">
              <a:defRPr sz="1200">
                <a:solidFill>
                  <a:srgbClr val="CCCCCC"/>
                </a:solidFill>
              </a:defRPr>
            </a:pPr>
            <a:r>
              <a:t>RAG results</a:t>
            </a:r>
            <a:br/>
            <a:r>
              <a:t>(relevant docs)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3291840"/>
            <a:ext cx="3474720" cy="16459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600" b="1">
                <a:solidFill>
                  <a:srgbClr val="FFD700"/>
                </a:solidFill>
              </a:defRPr>
            </a:pPr>
            <a:r>
              <a:t>Tool</a:t>
            </a:r>
            <a:br/>
            <a:r>
              <a:t>Results</a:t>
            </a:r>
          </a:p>
          <a:p>
            <a:pPr algn="ctr">
              <a:defRPr sz="1200">
                <a:solidFill>
                  <a:srgbClr val="CCCCCC"/>
                </a:solidFill>
              </a:defRPr>
            </a:pPr>
            <a:r>
              <a:t>Live data from</a:t>
            </a:r>
            <a:br/>
            <a:r>
              <a:t>API calls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3291840"/>
            <a:ext cx="3474720" cy="16459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600" b="1">
                <a:solidFill>
                  <a:srgbClr val="FF4444"/>
                </a:solidFill>
              </a:defRPr>
            </a:pPr>
            <a:r>
              <a:t>Output</a:t>
            </a:r>
            <a:br/>
            <a:r>
              <a:t>Budget</a:t>
            </a:r>
          </a:p>
          <a:p>
            <a:pPr algn="ctr">
              <a:defRPr sz="1200">
                <a:solidFill>
                  <a:srgbClr val="CCCCCC"/>
                </a:solidFill>
              </a:defRPr>
            </a:pPr>
            <a:r>
              <a:t>Reserve space</a:t>
            </a:r>
            <a:br/>
            <a:r>
              <a:t>for response!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43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999999"/>
                </a:solidFill>
              </a:defRPr>
            </a:pPr>
            <a:r>
              <a:t>Every component competes for the same limited token budget. Choose wisely.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27432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The 'Lost in the Middle'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Research shows: Models pay UNEVEN attention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Beginning: ████████████ HIGH attention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Middle:    ████         LOW attention ← Danger!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End:       ██████████   HIGH attention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IMPLICATIONS: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• Put critical instructions at the BEGINNING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• Put current query at the END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• Don't bury important facts in long middle sections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Structure your context to match the model's attention pattern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27432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Strategies for Context Assembly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1. PRIORITY STACKING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Most important info first and last, less important in middle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2. COMPRESSION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Summarize 2000 tokens of history into 200 tokens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Same information, 10x fewer tokens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3. DYNAMIC SELECTION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Different queries → different context assembled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Ask about networking → include network docs, skip storage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4. STRUCTURED DELIMITERS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=== INSTRUCTIONS === / === DOCUMENTS === / === QUERY ===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D700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E2E8F0"/>
                </a:solidFill>
              </a:defRPr>
            </a:pPr>
            <a:r>
              <a:t>  1.  Context window is a fixed budget — every token counts</a:t>
            </a:r>
          </a:p>
          <a:p>
            <a:pPr>
              <a:spcAft>
                <a:spcPts val="1400"/>
              </a:spcAft>
              <a:defRPr sz="1700">
                <a:solidFill>
                  <a:srgbClr val="E2E8F0"/>
                </a:solidFill>
              </a:defRPr>
            </a:pPr>
            <a:r>
              <a:t>  2.  Context Engineering decides WHAT enters the model from many sources</a:t>
            </a:r>
          </a:p>
          <a:p>
            <a:pPr>
              <a:spcAft>
                <a:spcPts val="1400"/>
              </a:spcAft>
              <a:defRPr sz="1700">
                <a:solidFill>
                  <a:srgbClr val="E2E8F0"/>
                </a:solidFill>
              </a:defRPr>
            </a:pPr>
            <a:r>
              <a:t>  3.  Information at beginning and end gets most attention</a:t>
            </a:r>
          </a:p>
          <a:p>
            <a:pPr>
              <a:spcAft>
                <a:spcPts val="1400"/>
              </a:spcAft>
              <a:defRPr sz="1700">
                <a:solidFill>
                  <a:srgbClr val="E2E8F0"/>
                </a:solidFill>
              </a:defRPr>
            </a:pPr>
            <a:r>
              <a:t>  4.  Compression: 2000 tokens of history → 200 tokens of summary</a:t>
            </a:r>
          </a:p>
          <a:p>
            <a:pPr>
              <a:spcAft>
                <a:spcPts val="1400"/>
              </a:spcAft>
              <a:defRPr sz="1700">
                <a:solidFill>
                  <a:srgbClr val="E2E8F0"/>
                </a:solidFill>
              </a:defRPr>
            </a:pPr>
            <a:r>
              <a:t>  5.  Dynamic selection: different queries assemble different contexts</a:t>
            </a:r>
          </a:p>
          <a:p>
            <a:pPr>
              <a:spcAft>
                <a:spcPts val="1400"/>
              </a:spcAft>
              <a:defRPr sz="1700">
                <a:solidFill>
                  <a:srgbClr val="E2E8F0"/>
                </a:solidFill>
              </a:defRPr>
            </a:pPr>
            <a:r>
              <a:t>  6.  Good context engineering makes the same model 10x more useful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