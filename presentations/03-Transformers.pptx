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97280" cy="109728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F172A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097280"/>
            <a:ext cx="8686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Transformers &amp;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9260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CCCCC"/>
                </a:solidFill>
              </a:defRPr>
            </a:pPr>
            <a:r>
              <a:t>The Architecture That Changed Everything</a:t>
            </a:r>
            <a:br/>
            <a:r>
              <a:t>'Attention Is All You Need' (2017)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17920"/>
            <a:ext cx="3657600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99999"/>
                </a:solidFill>
              </a:defRPr>
            </a:pPr>
            <a:r>
              <a:t>THE COMPLETE JOURNEY OF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Before vs After Transformers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8C00"/>
                </a:solidFill>
              </a:defRPr>
            </a:pPr>
            <a:r>
              <a:t>RNN (Before)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Reads one word at a time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Sequential — can't parallelize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Forgets distant words (vanishing gradient)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Slow training (word by word)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Context limited by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E676"/>
                </a:solidFill>
              </a:defRPr>
            </a:pPr>
            <a:r>
              <a:t>TRANSFORMER (After)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Every word sees every other word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Fully parallelizable on GPUs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Direct attention to ANY word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Fast training (all at once)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Context limited only by budget (N²)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Self-Attention: The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'The cat sat because IT was tired' — What does 'it' refer to?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Every word creates THREE vectors: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Query (Q):  'What am I looking for?'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Key (K):    'What do I contain?'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Value (V):  'What information can I provide?'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ATTENTION FORMULA: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Attention(Q,K,V) = softmax(Q × K^T / √d) × V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Q×K^T → How relevant is each word to each other word?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softmax → Convert to probabilities (sum to 1)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× V → Weighted combination of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Multi-Head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One attention head captures ONE type of relationship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Multiple heads capture DIFFERENT relationships simultaneously: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Head 1: 'Who is the subject?'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Head 2: 'What is the action?'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Head 3: 'Where is it happening?'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Head 4: 'What refers to what?'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GPT-3 uses 96 attention heads per layer!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Each head learns different linguistic patterns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Multi-Head = Concat(Head1, Head2, ..., Head96) × W_output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Transformer Block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8C00"/>
                </a:solidFill>
              </a:defRPr>
            </a:pPr>
            <a:r>
              <a:t>Multi-Head</a:t>
            </a:r>
            <a:br/>
            <a:r>
              <a:t>Self-Attention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Find relationships</a:t>
            </a:r>
            <a:br/>
            <a:r>
              <a:t>between all tokens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Residual</a:t>
            </a:r>
            <a:br/>
            <a:r>
              <a:t>Connection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Add original input back</a:t>
            </a:r>
            <a:br/>
            <a:r>
              <a:t>(helps gradient 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28016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E676"/>
                </a:solidFill>
              </a:defRPr>
            </a:pPr>
            <a:r>
              <a:t>Layer</a:t>
            </a:r>
            <a:br/>
            <a:r>
              <a:t>Normalization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Keep numbers stable</a:t>
            </a:r>
            <a:br/>
            <a:r>
              <a:t>(prevent explosion)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A855F7"/>
                </a:solidFill>
              </a:defRPr>
            </a:pPr>
            <a:r>
              <a:t>Feed-Forward</a:t>
            </a:r>
            <a:br/>
            <a:r>
              <a:t>Network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Process each position</a:t>
            </a:r>
            <a:br/>
            <a:r>
              <a:t>(4096→16384→4096)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00D4FF"/>
                </a:solidFill>
              </a:defRPr>
            </a:pPr>
            <a:r>
              <a:t>Residual +</a:t>
            </a:r>
            <a:br/>
            <a:r>
              <a:t>Layer Norm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Another skip connection</a:t>
            </a:r>
            <a:br/>
            <a:r>
              <a:t>and normalization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91840"/>
            <a:ext cx="3474720" cy="16459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Repeat 80+</a:t>
            </a:r>
            <a:br/>
            <a:r>
              <a:t>Times</a:t>
            </a:r>
          </a:p>
          <a:p>
            <a:pPr algn="ctr">
              <a:defRPr sz="1200">
                <a:solidFill>
                  <a:srgbClr val="CCCCCC"/>
                </a:solidFill>
              </a:defRPr>
            </a:pPr>
            <a:r>
              <a:t>Stack blocks for</a:t>
            </a:r>
            <a:br/>
            <a:r>
              <a:t>deeper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999999"/>
                </a:solidFill>
              </a:defRPr>
            </a:pPr>
            <a:r>
              <a:t>Each block: Attention (relationships) → FFN (thinking). GPT stacks 80-128 of these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Causal Masking (Why GPT is Left-to-Right)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GPT is a DECODER — generates one token at a time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Each token can ONLY see previous tokens: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Token 1: sees [1]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Token 2: sees [1, 2]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Token 3: sees [1, 2, 3]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Token 4: sees [1, 2, 3, 4]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Future tokens are MASKED (score = -infinity)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This is why generation goes left → right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The model cannot 'peek ahead' at what comes next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27432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Cost: N²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Every word attends to every other word: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N = 100 words  →  10,000 calculations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N = 1,000      →  1,000,000 calculations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N = 100,000    →  10,000,000,000 calculations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This is why context windows have LIMITS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GPT-3: 4K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GPT-4: 128K tokens</a:t>
            </a:r>
          </a:p>
          <a:p>
            <a:pPr lvl="1">
              <a:spcAft>
                <a:spcPts val="1200"/>
              </a:spcAft>
              <a:defRPr sz="1600">
                <a:solidFill>
                  <a:srgbClr val="CCCCCC"/>
                </a:solidFill>
              </a:defRPr>
            </a:pPr>
            <a:r>
              <a:t>   Claude: 200K tokens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Longer context = more memory, more compute, higher cost</a:t>
            </a:r>
          </a:p>
          <a:p>
            <a:pPr>
              <a:spcAft>
                <a:spcPts val="1200"/>
              </a:spcAft>
              <a:defRPr sz="1800">
                <a:solidFill>
                  <a:srgbClr val="E2E8F0"/>
                </a:solidFill>
              </a:defRPr>
            </a:pPr>
            <a:r>
              <a:t>Active research: efficient attention variants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D700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1.  Transformers let every word attend to every other word simultaneously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2.  Self-Attention uses Query, Key, Value to find relationships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3.  Multi-Head Attention captures different relationship types in parallel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4.  Transformer Blocks stack (80+) to build deeper understanding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5.  Architecture is parallelizable — enabling training on massive data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6.  Cost scales as N² with sequence length (context window tradeoff)</a:t>
            </a:r>
          </a:p>
          <a:p>
            <a:pPr>
              <a:spcAft>
                <a:spcPts val="1400"/>
              </a:spcAft>
              <a:defRPr sz="1700">
                <a:solidFill>
                  <a:srgbClr val="E2E8F0"/>
                </a:solidFill>
              </a:defRPr>
            </a:pPr>
            <a:r>
              <a:t>  7.  GPT uses decoder-only (left-to-right, one token at a time)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